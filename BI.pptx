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67" r:id="rId3"/>
    <p:sldId id="257" r:id="rId4"/>
    <p:sldId id="263" r:id="rId5"/>
    <p:sldId id="278" r:id="rId6"/>
    <p:sldId id="277" r:id="rId7"/>
    <p:sldId id="268" r:id="rId8"/>
    <p:sldId id="272" r:id="rId9"/>
    <p:sldId id="273" r:id="rId10"/>
    <p:sldId id="274" r:id="rId11"/>
    <p:sldId id="269" r:id="rId12"/>
    <p:sldId id="266" r:id="rId13"/>
    <p:sldId id="276" r:id="rId14"/>
    <p:sldId id="279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672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AE20A-A4F9-4D49-BC46-4B308F0A7D6B}" type="datetimeFigureOut">
              <a:rPr lang="en-US" smtClean="0"/>
              <a:t>4/15/2016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05576-07D8-B046-806A-9E45AD65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4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*A data source is processed by a BI tool to produce application results</a:t>
            </a:r>
          </a:p>
          <a:p>
            <a:r>
              <a:rPr lang="en-US" dirty="0" smtClean="0"/>
              <a:t>*BI application servers deliver results to devices for use by BI users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905576-07D8-B046-806A-9E45AD6568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86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CC46B05-9BCA-4A72-AEA8-B31434125170}" type="datetimeFigureOut">
              <a:rPr lang="en-US" smtClean="0"/>
              <a:pPr/>
              <a:t>4/15/2016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CE0E79D-90E2-472F-9FC3-48D75CA167C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685800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Business intelligence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Intelligence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Business intelligence = looking for patterns, relationships, and clusters of information in data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8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Intelligence (BI)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Computer programs used as BI tools:</a:t>
            </a:r>
          </a:p>
          <a:p>
            <a:pPr lvl="1"/>
            <a:r>
              <a:rPr lang="en-US" dirty="0" smtClean="0"/>
              <a:t>Reporting</a:t>
            </a:r>
          </a:p>
          <a:p>
            <a:pPr lvl="1"/>
            <a:r>
              <a:rPr lang="en-US" b="1" dirty="0" smtClean="0">
                <a:solidFill>
                  <a:srgbClr val="0070C0"/>
                </a:solidFill>
              </a:rPr>
              <a:t>Data mining</a:t>
            </a:r>
          </a:p>
          <a:p>
            <a:pPr lvl="1"/>
            <a:r>
              <a:rPr lang="en-US" dirty="0" smtClean="0"/>
              <a:t>Knowledge management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153400" cy="44958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Applying statistical techniques to find patterns and relationships among data</a:t>
            </a:r>
          </a:p>
          <a:p>
            <a:r>
              <a:rPr lang="en-US" dirty="0" smtClean="0"/>
              <a:t>Primary purpose: making predictions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“Sorting”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SPSS</a:t>
            </a:r>
          </a:p>
          <a:p>
            <a:r>
              <a:rPr lang="en-US" dirty="0" smtClean="0"/>
              <a:t>Excel pivot tables</a:t>
            </a:r>
          </a:p>
          <a:p>
            <a:r>
              <a:rPr lang="en-US" dirty="0" smtClean="0"/>
              <a:t>Algorithms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19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Fisher, </a:t>
            </a:r>
            <a:r>
              <a:rPr lang="en-US" dirty="0" err="1" smtClean="0"/>
              <a:t>Lauria</a:t>
            </a:r>
            <a:r>
              <a:rPr lang="en-US" dirty="0" smtClean="0"/>
              <a:t>, &amp; </a:t>
            </a:r>
            <a:r>
              <a:rPr lang="en-US" dirty="0" err="1" smtClean="0"/>
              <a:t>Matheus</a:t>
            </a:r>
            <a:r>
              <a:rPr lang="en-US" dirty="0" smtClean="0"/>
              <a:t> (2009)</a:t>
            </a:r>
            <a:endParaRPr lang="en-US" dirty="0"/>
          </a:p>
        </p:txBody>
      </p:sp>
      <p:pic>
        <p:nvPicPr>
          <p:cNvPr id="1026" name="Picture 2" descr="http://downloads.bbc.co.uk/rmhttp/schools/primaryhistory/images/world_war2/air_raids/ww2_coventry_after_blitz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163" y="2286000"/>
            <a:ext cx="6699141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34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ata mining</a:t>
            </a:r>
          </a:p>
          <a:p>
            <a:pPr lvl="1"/>
            <a:r>
              <a:rPr lang="en-US" dirty="0" smtClean="0"/>
              <a:t>Cluster analysis: identifying groups with similar characteristics</a:t>
            </a:r>
          </a:p>
          <a:p>
            <a:pPr lvl="1"/>
            <a:r>
              <a:rPr lang="en-US" dirty="0" smtClean="0"/>
              <a:t>Regression analysis</a:t>
            </a:r>
          </a:p>
          <a:p>
            <a:r>
              <a:rPr lang="en-US" dirty="0" smtClean="0"/>
              <a:t>Market-based (regression) analyses</a:t>
            </a:r>
          </a:p>
          <a:p>
            <a:pPr lvl="1"/>
            <a:r>
              <a:rPr lang="en-US" dirty="0" smtClean="0"/>
              <a:t>Technique for determining sales patterns</a:t>
            </a:r>
          </a:p>
          <a:p>
            <a:r>
              <a:rPr lang="en-US" dirty="0" smtClean="0"/>
              <a:t>Decision Trees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Cluster Analysis and Customer 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Characteristics of Group A:</a:t>
            </a:r>
          </a:p>
          <a:p>
            <a:pPr lvl="1"/>
            <a:r>
              <a:rPr lang="en-US" dirty="0" smtClean="0"/>
              <a:t>Average age 33, owns 3 iPhones, owns high-end home-entertainment system, drives BMW M5, buys expensive children’s play equipment</a:t>
            </a:r>
          </a:p>
          <a:p>
            <a:r>
              <a:rPr lang="en-US" b="1" dirty="0" smtClean="0"/>
              <a:t>Characteristics of Group B:</a:t>
            </a:r>
          </a:p>
          <a:p>
            <a:pPr lvl="1"/>
            <a:r>
              <a:rPr lang="en-US" dirty="0" smtClean="0"/>
              <a:t>Average age 64, owns vacation properties, plays golf, buys expensive wine</a:t>
            </a:r>
          </a:p>
          <a:p>
            <a:r>
              <a:rPr lang="en-US" dirty="0" smtClean="0"/>
              <a:t>Cluster analysis findings: both groups buy designer children’s clothing</a:t>
            </a:r>
          </a:p>
          <a:p>
            <a:pPr lvl="1"/>
            <a:r>
              <a:rPr lang="en-US" dirty="0" smtClean="0"/>
              <a:t>Why are such different groups buying the same products? 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84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Analyses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Basic regression: using multiple IV’s to predict a DV</a:t>
            </a:r>
          </a:p>
        </p:txBody>
      </p:sp>
      <p:pic>
        <p:nvPicPr>
          <p:cNvPr id="2050" name="Picture 2" descr="http://1.bp.blogspot.com/-QYFj31fpPEc/T3pwEjYmMzI/AAAAAAAAH30/y7O9NshwjqY/s1600/hear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667000"/>
            <a:ext cx="4606925" cy="341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12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Market-based Regression Analyses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Example: 	</a:t>
            </a:r>
          </a:p>
          <a:p>
            <a:pPr lvl="1"/>
            <a:r>
              <a:rPr lang="en-US" dirty="0" smtClean="0"/>
              <a:t>Marketing experts in a communication company think cell phone usage on weekends is determined by customer age and length of time customer has owned the phone</a:t>
            </a:r>
          </a:p>
          <a:p>
            <a:pPr lvl="1"/>
            <a:r>
              <a:rPr lang="en-US" dirty="0" smtClean="0"/>
              <a:t>Run analysis to estimate the impact of customer age and account age on weekend cell use</a:t>
            </a:r>
          </a:p>
        </p:txBody>
      </p:sp>
    </p:spTree>
    <p:extLst>
      <p:ext uri="{BB962C8B-B14F-4D97-AF65-F5344CB8AC3E}">
        <p14:creationId xmlns:p14="http://schemas.microsoft.com/office/powerpoint/2010/main" val="228115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tool that uses tree-like graphs of decisions and possible consequences</a:t>
            </a:r>
          </a:p>
          <a:p>
            <a:r>
              <a:rPr lang="en-US" dirty="0"/>
              <a:t>C</a:t>
            </a:r>
            <a:r>
              <a:rPr lang="en-US" dirty="0" smtClean="0"/>
              <a:t>alculate conditional                                      probabilities </a:t>
            </a:r>
          </a:p>
          <a:p>
            <a:r>
              <a:rPr lang="en-US" dirty="0" smtClean="0"/>
              <a:t>Decision rules use                                                </a:t>
            </a:r>
            <a:r>
              <a:rPr lang="en-US" b="1" dirty="0" smtClean="0"/>
              <a:t>If…Then… </a:t>
            </a:r>
            <a:r>
              <a:rPr lang="en-US" dirty="0" smtClean="0"/>
              <a:t>format </a:t>
            </a:r>
          </a:p>
        </p:txBody>
      </p:sp>
      <p:pic>
        <p:nvPicPr>
          <p:cNvPr id="5122" name="Picture 2" descr="http://aratnam.files.wordpress.com/2010/11/17_decisiontre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803" y="2235908"/>
            <a:ext cx="3424341" cy="462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19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dirty="0" smtClean="0"/>
              <a:t>Decision Tree: Clinton vs. Obama (2008)</a:t>
            </a:r>
            <a:endParaRPr lang="en-US" sz="3900" dirty="0"/>
          </a:p>
        </p:txBody>
      </p:sp>
      <p:pic>
        <p:nvPicPr>
          <p:cNvPr id="1026" name="Picture 2" descr="D:\Users\JP\Documents\MARIST\ITS 300 Management Information Systems\Images and slides\Decision tree Clinton Obama voting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600200"/>
            <a:ext cx="4191000" cy="502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172" y="228600"/>
            <a:ext cx="8153400" cy="990600"/>
          </a:xfrm>
        </p:spPr>
        <p:txBody>
          <a:bodyPr/>
          <a:lstStyle/>
          <a:p>
            <a:r>
              <a:rPr lang="en-US" dirty="0" smtClean="0"/>
              <a:t>Decision Trees and € </a:t>
            </a:r>
            <a:endParaRPr lang="en-US" dirty="0"/>
          </a:p>
        </p:txBody>
      </p:sp>
      <p:pic>
        <p:nvPicPr>
          <p:cNvPr id="3074" name="Picture 2" descr="http://4.bp.blogspot.com/-D-370c7nmsA/TtOQGZz9lDI/AAAAAAAABso/mTxsfsfvj2Y/s1600/The%2BEur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08125"/>
            <a:ext cx="6687344" cy="53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51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big data?</a:t>
            </a:r>
          </a:p>
          <a:p>
            <a:r>
              <a:rPr lang="en-US" dirty="0" smtClean="0"/>
              <a:t>How do we work with big data?</a:t>
            </a:r>
          </a:p>
          <a:p>
            <a:pPr lvl="1"/>
            <a:r>
              <a:rPr lang="en-US" dirty="0" smtClean="0"/>
              <a:t>Hadoop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020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Assets\Image Library\chapter09\fig09_2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743199"/>
            <a:ext cx="7696200" cy="399185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of a BI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u="sng" dirty="0" smtClean="0"/>
              <a:t>data source</a:t>
            </a:r>
            <a:r>
              <a:rPr lang="en-US" sz="2400" dirty="0" smtClean="0"/>
              <a:t> is processed by a </a:t>
            </a:r>
            <a:r>
              <a:rPr lang="en-US" sz="2400" u="sng" dirty="0" smtClean="0"/>
              <a:t>BI tool</a:t>
            </a:r>
            <a:r>
              <a:rPr lang="en-US" sz="2400" dirty="0" smtClean="0"/>
              <a:t> to produce </a:t>
            </a:r>
            <a:r>
              <a:rPr lang="en-US" sz="2400" u="sng" dirty="0" smtClean="0"/>
              <a:t>application results</a:t>
            </a:r>
            <a:r>
              <a:rPr lang="en-US" sz="2400" dirty="0" smtClean="0"/>
              <a:t>. A BI </a:t>
            </a:r>
            <a:r>
              <a:rPr lang="en-US" sz="2400" u="sng" dirty="0" smtClean="0"/>
              <a:t>application server</a:t>
            </a:r>
            <a:r>
              <a:rPr lang="en-US" sz="2400" dirty="0" smtClean="0"/>
              <a:t> delivers results in different formats to </a:t>
            </a:r>
            <a:r>
              <a:rPr lang="en-US" sz="2400" u="sng" dirty="0" smtClean="0"/>
              <a:t>devices</a:t>
            </a:r>
            <a:r>
              <a:rPr lang="en-US" sz="2400" dirty="0" smtClean="0"/>
              <a:t> for BI users.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673</TotalTime>
  <Words>300</Words>
  <Application>Microsoft Office PowerPoint</Application>
  <PresentationFormat>On-screen Show (4:3)</PresentationFormat>
  <Paragraphs>51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Median</vt:lpstr>
      <vt:lpstr>Business intelligence</vt:lpstr>
      <vt:lpstr>Business Intelligence</vt:lpstr>
      <vt:lpstr>Business Intelligence (BI) Tools</vt:lpstr>
      <vt:lpstr>Data Mining</vt:lpstr>
      <vt:lpstr>Data “Sorting”</vt:lpstr>
      <vt:lpstr>Fisher, Lauria, &amp; Matheus (2009)</vt:lpstr>
      <vt:lpstr>Data Mining</vt:lpstr>
      <vt:lpstr>Cluster Analysis and Customer Groups</vt:lpstr>
      <vt:lpstr>Regression Analyses</vt:lpstr>
      <vt:lpstr>Market-based Regression Analyses</vt:lpstr>
      <vt:lpstr>Decision Trees</vt:lpstr>
      <vt:lpstr>Decision Tree: Clinton vs. Obama (2008)</vt:lpstr>
      <vt:lpstr>Decision Trees and € </vt:lpstr>
      <vt:lpstr>Big Data</vt:lpstr>
      <vt:lpstr>Components of a BI System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Kroenke Chapter 9</dc:title>
  <dc:creator>Carolyn Matheus</dc:creator>
  <cp:lastModifiedBy>Carolyn Matheus</cp:lastModifiedBy>
  <cp:revision>33</cp:revision>
  <dcterms:created xsi:type="dcterms:W3CDTF">2010-11-09T15:21:35Z</dcterms:created>
  <dcterms:modified xsi:type="dcterms:W3CDTF">2016-04-15T13:22:16Z</dcterms:modified>
</cp:coreProperties>
</file>